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C1F91-A80F-4FED-8E11-9A2DDA5F9ADA}" v="498" dt="2025-06-15T21:51:06.236"/>
    <p1510:client id="{5590EEEB-390A-43D5-9626-03AC221BAD73}" v="397" dt="2025-06-15T22:54:04.552"/>
    <p1510:client id="{573CC129-0197-4B48-992E-1F12C460A2E0}" v="624" dt="2025-06-16T06:05:19.527"/>
    <p1510:client id="{FC278555-61E6-4420-B1B5-C27535BE0DCF}" v="228" dt="2025-06-15T21:15:39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15/06/2025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8800">
                <a:solidFill>
                  <a:schemeClr val="bg1"/>
                </a:solidFill>
              </a:rPr>
              <a:t>CHECKED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ES" sz="5000" b="1">
                <a:solidFill>
                  <a:schemeClr val="bg1">
                    <a:lumMod val="95000"/>
                  </a:schemeClr>
                </a:solidFill>
                <a:latin typeface="Arial"/>
                <a:cs typeface="Arial"/>
              </a:rPr>
              <a:t>Una web para facilitar tu día a día.</a:t>
            </a:r>
            <a:endParaRPr lang="es-ES" sz="500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1CF3C-EFF4-184E-7611-04C5B96E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solidFill>
                  <a:srgbClr val="000000"/>
                </a:solidFill>
              </a:rPr>
              <a:t>INTRODUCCIÓN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84408-EEE7-5C02-563B-A1A7FA037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solidFill>
                  <a:schemeClr val="bg1">
                    <a:lumMod val="95000"/>
                  </a:schemeClr>
                </a:solidFill>
              </a:rPr>
              <a:t>Una aplicación web para personas mayores.</a:t>
            </a:r>
          </a:p>
          <a:p>
            <a:endParaRPr lang="es-E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>
                <a:solidFill>
                  <a:schemeClr val="bg1">
                    <a:lumMod val="95000"/>
                  </a:schemeClr>
                </a:solidFill>
              </a:rPr>
              <a:t>96,8% población tiene acceso a Internet.</a:t>
            </a:r>
          </a:p>
          <a:p>
            <a:endParaRPr lang="es-E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>
                <a:solidFill>
                  <a:schemeClr val="bg1">
                    <a:lumMod val="95000"/>
                  </a:schemeClr>
                </a:solidFill>
              </a:rPr>
              <a:t>Cambios en los hábitos de vida.</a:t>
            </a:r>
          </a:p>
          <a:p>
            <a:endParaRPr lang="es-ES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>
                <a:solidFill>
                  <a:schemeClr val="bg1">
                    <a:lumMod val="95000"/>
                  </a:schemeClr>
                </a:solidFill>
              </a:rPr>
              <a:t>Aumento de la esperanza de vida</a:t>
            </a:r>
          </a:p>
        </p:txBody>
      </p:sp>
    </p:spTree>
    <p:extLst>
      <p:ext uri="{BB962C8B-B14F-4D97-AF65-F5344CB8AC3E}">
        <p14:creationId xmlns:p14="http://schemas.microsoft.com/office/powerpoint/2010/main" val="2563376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15829-9024-235E-D939-2B40EA608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sz="4400">
                <a:solidFill>
                  <a:schemeClr val="bg1">
                    <a:lumMod val="95000"/>
                  </a:schemeClr>
                </a:solidFill>
              </a:rPr>
              <a:t>Gestionar tareas diarias:</a:t>
            </a:r>
            <a:endParaRPr lang="es-ES"/>
          </a:p>
          <a:p>
            <a:pPr marL="0" indent="0">
              <a:buNone/>
            </a:pPr>
            <a:r>
              <a:rPr lang="es-ES" sz="4400">
                <a:solidFill>
                  <a:schemeClr val="bg1">
                    <a:lumMod val="95000"/>
                  </a:schemeClr>
                </a:solidFill>
              </a:rPr>
              <a:t>    - Tareas por defecto.</a:t>
            </a:r>
          </a:p>
          <a:p>
            <a:pPr marL="0" indent="0">
              <a:buNone/>
            </a:pPr>
            <a:r>
              <a:rPr lang="es-ES" sz="4400">
                <a:solidFill>
                  <a:schemeClr val="bg1">
                    <a:lumMod val="95000"/>
                  </a:schemeClr>
                </a:solidFill>
              </a:rPr>
              <a:t>    - Añadir tareas.</a:t>
            </a:r>
          </a:p>
          <a:p>
            <a:endParaRPr lang="es-ES" sz="440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s-ES" sz="4400">
                <a:solidFill>
                  <a:schemeClr val="bg1">
                    <a:lumMod val="95000"/>
                  </a:schemeClr>
                </a:solidFill>
              </a:rPr>
              <a:t>Recordar tareas. </a:t>
            </a:r>
          </a:p>
          <a:p>
            <a:endParaRPr lang="es-ES"/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9541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E36A2-1618-C4F7-CA28-FA9338C38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 algn="ctr">
              <a:buNone/>
            </a:pPr>
            <a:r>
              <a:rPr lang="es-ES" sz="8500">
                <a:solidFill>
                  <a:schemeClr val="bg1"/>
                </a:solidFill>
              </a:rPr>
              <a:t>EXPERIENCIA PERSONAL + CAMPO CON CRECIMIENTO</a:t>
            </a:r>
          </a:p>
        </p:txBody>
      </p:sp>
    </p:spTree>
    <p:extLst>
      <p:ext uri="{BB962C8B-B14F-4D97-AF65-F5344CB8AC3E}">
        <p14:creationId xmlns:p14="http://schemas.microsoft.com/office/powerpoint/2010/main" val="3764844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8684-7120-EA04-06EC-2298D6C82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219D-9742-936E-C705-95458F43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OBJETIVOS GENERALES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48308-E954-93BE-1272-D44EB7F07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Fomentar el uso de las nuevas </a:t>
            </a:r>
            <a:r>
              <a:rPr lang="es-ES" sz="2400" b="1" err="1">
                <a:solidFill>
                  <a:schemeClr val="bg1"/>
                </a:solidFill>
                <a:latin typeface="Arial"/>
                <a:cs typeface="Arial"/>
              </a:rPr>
              <a:t>tecnolog</a:t>
            </a:r>
            <a:r>
              <a:rPr lang="es" sz="2400" b="1" err="1">
                <a:solidFill>
                  <a:schemeClr val="bg1"/>
                </a:solidFill>
                <a:latin typeface="Arial"/>
                <a:cs typeface="Arial"/>
              </a:rPr>
              <a:t>ías</a:t>
            </a:r>
            <a:r>
              <a:rPr lang="es" sz="2400">
                <a:solidFill>
                  <a:schemeClr val="bg1"/>
                </a:solidFill>
                <a:latin typeface="Arial"/>
                <a:cs typeface="Arial"/>
              </a:rPr>
              <a:t> entre las personas mayores de 65 años.</a:t>
            </a:r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Facilitar el día a día de estas personas y </a:t>
            </a:r>
            <a:r>
              <a:rPr lang="es-ES" sz="2400" b="1" err="1">
                <a:solidFill>
                  <a:schemeClr val="bg1"/>
                </a:solidFill>
                <a:latin typeface="Arial"/>
                <a:cs typeface="Arial"/>
              </a:rPr>
              <a:t>pr</a:t>
            </a:r>
            <a:r>
              <a:rPr lang="es" sz="2400" b="1" err="1">
                <a:solidFill>
                  <a:schemeClr val="bg1"/>
                </a:solidFill>
                <a:latin typeface="Arial"/>
                <a:cs typeface="Arial"/>
              </a:rPr>
              <a:t>omover</a:t>
            </a:r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 unos hábitos de vida saludables</a:t>
            </a:r>
            <a:r>
              <a:rPr lang="es-ES" sz="2400">
                <a:solidFill>
                  <a:schemeClr val="bg1"/>
                </a:solidFill>
                <a:latin typeface="Arial"/>
                <a:cs typeface="Arial"/>
              </a:rPr>
              <a:t> mediante una plataforma interactiva e intuitiva. </a:t>
            </a:r>
          </a:p>
          <a:p>
            <a:pPr algn="just"/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Hacerles partícipes</a:t>
            </a:r>
            <a:r>
              <a:rPr lang="es-ES" sz="2400">
                <a:solidFill>
                  <a:schemeClr val="bg1"/>
                </a:solidFill>
                <a:latin typeface="Arial"/>
                <a:cs typeface="Arial"/>
              </a:rPr>
              <a:t> a la hora de programar las diferentes actividades que realizan de forma diaria.</a:t>
            </a:r>
          </a:p>
          <a:p>
            <a:pPr algn="just"/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Asegurar que la experiencia del usuario sea de alta calidad</a:t>
            </a:r>
            <a:r>
              <a:rPr lang="es-ES" sz="2400">
                <a:solidFill>
                  <a:schemeClr val="bg1"/>
                </a:solidFill>
                <a:latin typeface="Arial"/>
                <a:cs typeface="Arial"/>
              </a:rPr>
              <a:t>.</a:t>
            </a:r>
            <a:endParaRPr lang="es-ES" sz="2400">
              <a:solidFill>
                <a:schemeClr val="bg1"/>
              </a:solidFill>
              <a:latin typeface="Aptos"/>
              <a:cs typeface="Arial"/>
            </a:endParaRP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1776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1D4EC-4E0B-029F-C3D2-020FB8AB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A9B7-A9C1-EA53-D3EE-DB3C2B95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OBJETIVOS ESPECÍFICOS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28477-E463-2355-AF7D-A2E53A703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s" sz="2400" b="1">
                <a:solidFill>
                  <a:schemeClr val="bg1"/>
                </a:solidFill>
                <a:latin typeface="Arial"/>
                <a:cs typeface="Arial"/>
              </a:rPr>
              <a:t>Desarrollar una aplicación web que permita a los usuarios realizar un seguimiento de las tareas cotidianas.</a:t>
            </a:r>
            <a:endParaRPr lang="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Crear un sistema de registro y gestión de usuarios</a:t>
            </a:r>
            <a:r>
              <a:rPr lang="es-ES" sz="2400">
                <a:solidFill>
                  <a:schemeClr val="bg1"/>
                </a:solidFill>
                <a:latin typeface="Arial"/>
                <a:cs typeface="Arial"/>
              </a:rPr>
              <a:t> </a:t>
            </a:r>
          </a:p>
          <a:p>
            <a:pPr algn="just"/>
            <a:r>
              <a:rPr lang="es" sz="2400" b="1">
                <a:solidFill>
                  <a:schemeClr val="bg1"/>
                </a:solidFill>
                <a:latin typeface="Arial"/>
                <a:cs typeface="Arial"/>
              </a:rPr>
              <a:t>los usuarios también podrán añadir tareas</a:t>
            </a:r>
            <a:r>
              <a:rPr lang="es" sz="2400">
                <a:solidFill>
                  <a:schemeClr val="bg1"/>
                </a:solidFill>
                <a:latin typeface="Arial"/>
                <a:cs typeface="Arial"/>
              </a:rPr>
              <a:t> a través de una interfaz sencilla.  </a:t>
            </a:r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endParaRPr lang="es-ES" sz="2400">
              <a:solidFill>
                <a:schemeClr val="bg1"/>
              </a:solidFill>
              <a:latin typeface="Arial"/>
              <a:cs typeface="Arial"/>
            </a:endParaRPr>
          </a:p>
          <a:p>
            <a:pPr algn="just"/>
            <a:r>
              <a:rPr lang="es-ES" sz="2400">
                <a:solidFill>
                  <a:schemeClr val="bg1"/>
                </a:solidFill>
                <a:latin typeface="Arial"/>
                <a:cs typeface="Arial"/>
              </a:rPr>
              <a:t>Poder </a:t>
            </a:r>
            <a:r>
              <a:rPr lang="es-ES" sz="2400" b="1">
                <a:solidFill>
                  <a:schemeClr val="bg1"/>
                </a:solidFill>
                <a:latin typeface="Arial"/>
                <a:cs typeface="Arial"/>
              </a:rPr>
              <a:t>organiza</a:t>
            </a:r>
            <a:r>
              <a:rPr lang="es" sz="2400" b="1">
                <a:solidFill>
                  <a:schemeClr val="bg1"/>
                </a:solidFill>
                <a:latin typeface="Arial"/>
                <a:cs typeface="Arial"/>
              </a:rPr>
              <a:t>r las actividades </a:t>
            </a:r>
            <a:r>
              <a:rPr lang="es" sz="2400">
                <a:solidFill>
                  <a:schemeClr val="bg1"/>
                </a:solidFill>
                <a:latin typeface="Arial"/>
                <a:cs typeface="Arial"/>
              </a:rPr>
              <a:t>de forma que se ajusten a sus intereses</a:t>
            </a:r>
            <a:endParaRPr lang="es-ES" sz="2400">
              <a:solidFill>
                <a:schemeClr val="bg1"/>
              </a:solidFill>
            </a:endParaRP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6291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C43BA-4F24-F090-6424-C7876C11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2536-4D91-0A23-AE0F-47C2FEBF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ESTADO DEL ARTE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4C88E-79EC-D02B-9C3A-63F92A14B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Aplicaciones para potenciar funciones cognitivas:</a:t>
            </a:r>
            <a:endParaRPr lang="es-ES" sz="600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1. Cerebroagil.com.</a:t>
            </a: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2. Activa-mente.</a:t>
            </a: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3. </a:t>
            </a:r>
            <a:r>
              <a:rPr lang="es-ES" sz="6000" err="1">
                <a:solidFill>
                  <a:schemeClr val="bg1"/>
                </a:solidFill>
                <a:latin typeface="Arial"/>
                <a:cs typeface="Arial"/>
              </a:rPr>
              <a:t>Luminosity</a:t>
            </a: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  <a:p>
            <a:pPr algn="just"/>
            <a:endParaRPr lang="es-ES" sz="1200">
              <a:latin typeface="Arial"/>
              <a:cs typeface="Arial"/>
            </a:endParaRPr>
          </a:p>
          <a:p>
            <a:pPr algn="just"/>
            <a:endParaRPr lang="es-ES" sz="1100">
              <a:latin typeface="Arial"/>
              <a:cs typeface="Arial"/>
            </a:endParaRP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6324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7AC4-ACF4-B199-490C-0CFB6D60B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386F-6756-8127-7216-C4CE8BA2B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ESTADO DEL ARTE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85B64-9537-E863-B0B6-2D91C463E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Aplicaciones para fomentar el movimiento:</a:t>
            </a: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1. Google </a:t>
            </a:r>
            <a:r>
              <a:rPr lang="es-ES" sz="6000" err="1">
                <a:solidFill>
                  <a:schemeClr val="bg1"/>
                </a:solidFill>
                <a:latin typeface="Arial"/>
                <a:cs typeface="Arial"/>
              </a:rPr>
              <a:t>Fit</a:t>
            </a: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2. </a:t>
            </a:r>
            <a:r>
              <a:rPr lang="es-ES" sz="6000" err="1">
                <a:solidFill>
                  <a:schemeClr val="bg1"/>
                </a:solidFill>
                <a:latin typeface="Arial"/>
                <a:cs typeface="Arial"/>
              </a:rPr>
              <a:t>HASfit</a:t>
            </a:r>
            <a:endParaRPr lang="es-ES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4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64B5-B8F8-6AAD-B5BF-889AA6E1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6D3EF-76EC-454E-D749-5BBDCB0C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ESTADO DEL ARTE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8524AE-C08C-FF27-F31B-248E2B56F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Aplicaciones que actúan como recordatorios:</a:t>
            </a:r>
            <a:endParaRPr lang="en-US" sz="60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1. </a:t>
            </a:r>
            <a:r>
              <a:rPr lang="es-ES" sz="6000" err="1">
                <a:solidFill>
                  <a:schemeClr val="bg1"/>
                </a:solidFill>
                <a:latin typeface="Arial"/>
                <a:cs typeface="Arial"/>
              </a:rPr>
              <a:t>Medisafe</a:t>
            </a: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  <a:p>
            <a:pPr marL="0" indent="0" algn="just">
              <a:buNone/>
            </a:pPr>
            <a:r>
              <a:rPr lang="es-ES" sz="6000">
                <a:solidFill>
                  <a:schemeClr val="bg1"/>
                </a:solidFill>
                <a:latin typeface="Arial"/>
                <a:cs typeface="Arial"/>
              </a:rPr>
              <a:t>2. Recordatorio BZ.</a:t>
            </a:r>
          </a:p>
        </p:txBody>
      </p:sp>
    </p:spTree>
    <p:extLst>
      <p:ext uri="{BB962C8B-B14F-4D97-AF65-F5344CB8AC3E}">
        <p14:creationId xmlns:p14="http://schemas.microsoft.com/office/powerpoint/2010/main" val="412480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D604-DF9A-6C2A-4DB8-467D2DACC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827B-E631-1FFB-4647-0397FAF71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METODOLOGÍA </a:t>
            </a:r>
          </a:p>
        </p:txBody>
      </p:sp>
      <p:pic>
        <p:nvPicPr>
          <p:cNvPr id="4" name="Content Placeholder 3" descr="Imagen">
            <a:extLst>
              <a:ext uri="{FF2B5EF4-FFF2-40B4-BE49-F238E27FC236}">
                <a16:creationId xmlns:a16="http://schemas.microsoft.com/office/drawing/2014/main" id="{C15F6320-716A-6176-30C1-5984EBB16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3237" y="1540003"/>
            <a:ext cx="5736815" cy="4738226"/>
          </a:xfrm>
        </p:spPr>
      </p:pic>
    </p:spTree>
    <p:extLst>
      <p:ext uri="{BB962C8B-B14F-4D97-AF65-F5344CB8AC3E}">
        <p14:creationId xmlns:p14="http://schemas.microsoft.com/office/powerpoint/2010/main" val="51931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9671B-D675-0D47-E3CE-083256E4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A0BBF-F433-2F0B-D9D9-DA9A9B03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Tecnologías y 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1947B-A764-1E7C-D86F-27FBE3F5A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                                    </a:t>
            </a:r>
            <a:r>
              <a:rPr lang="es-ES" sz="4000" b="1">
                <a:solidFill>
                  <a:schemeClr val="bg1"/>
                </a:solidFill>
              </a:rPr>
              <a:t> BACK-END</a:t>
            </a:r>
            <a:r>
              <a:rPr lang="es-ES" sz="4000">
                <a:solidFill>
                  <a:schemeClr val="bg1"/>
                </a:solidFill>
              </a:rPr>
              <a:t>:</a:t>
            </a:r>
            <a:endParaRPr lang="es-E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1. Apache.</a:t>
            </a:r>
          </a:p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2. PHP.</a:t>
            </a:r>
          </a:p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3. </a:t>
            </a:r>
            <a:r>
              <a:rPr lang="es-ES" sz="4000" err="1">
                <a:solidFill>
                  <a:schemeClr val="bg1"/>
                </a:solidFill>
              </a:rPr>
              <a:t>phpMyAdmin</a:t>
            </a:r>
            <a:r>
              <a:rPr lang="es-ES" sz="400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4. Modelo MVC.</a:t>
            </a:r>
          </a:p>
        </p:txBody>
      </p:sp>
    </p:spTree>
    <p:extLst>
      <p:ext uri="{BB962C8B-B14F-4D97-AF65-F5344CB8AC3E}">
        <p14:creationId xmlns:p14="http://schemas.microsoft.com/office/powerpoint/2010/main" val="237848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A835-2C05-0FBA-67EA-728C9897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C102-AF00-723C-1A69-18A033E50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Tecnologías y 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85B8-D29B-2F44-1303-BACD15AA0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                                  </a:t>
            </a:r>
            <a:r>
              <a:rPr lang="es-ES" sz="4000" b="1">
                <a:solidFill>
                  <a:schemeClr val="bg1"/>
                </a:solidFill>
              </a:rPr>
              <a:t>FRONT-END</a:t>
            </a:r>
            <a:r>
              <a:rPr lang="es-ES" sz="4000">
                <a:solidFill>
                  <a:schemeClr val="bg1"/>
                </a:solidFill>
              </a:rPr>
              <a:t>:</a:t>
            </a:r>
            <a:endParaRPr lang="es-ES">
              <a:solidFill>
                <a:schemeClr val="bg1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ES" sz="4000">
                <a:solidFill>
                  <a:schemeClr val="bg1"/>
                </a:solidFill>
              </a:rPr>
              <a:t>Bootstrap.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s-ES" sz="4000">
                <a:solidFill>
                  <a:schemeClr val="bg1"/>
                </a:solidFill>
              </a:rPr>
              <a:t>HTML.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s-ES" sz="4000">
                <a:solidFill>
                  <a:schemeClr val="bg1"/>
                </a:solidFill>
              </a:rPr>
              <a:t>CSS.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s-ES" sz="4000">
                <a:solidFill>
                  <a:schemeClr val="bg1"/>
                </a:solidFill>
              </a:rPr>
              <a:t>JavaScript.</a:t>
            </a:r>
          </a:p>
          <a:p>
            <a:pPr>
              <a:buFont typeface="Calibri" panose="020B0604020202020204" pitchFamily="34" charset="0"/>
              <a:buChar char="-"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46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AD70E-DCAC-21B2-87C3-3E97A776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62D1-D181-09D2-176C-BB9F4B81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Tecnologías y herramientas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384BA-4F46-818E-1624-437814B0F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4000">
                <a:solidFill>
                  <a:schemeClr val="bg1"/>
                </a:solidFill>
              </a:rPr>
              <a:t>                              </a:t>
            </a:r>
            <a:r>
              <a:rPr lang="es-ES" sz="4000" b="1">
                <a:solidFill>
                  <a:schemeClr val="bg1"/>
                </a:solidFill>
              </a:rPr>
              <a:t>Recursos gráficos</a:t>
            </a:r>
            <a:r>
              <a:rPr lang="es-ES" sz="4000">
                <a:solidFill>
                  <a:schemeClr val="bg1"/>
                </a:solidFill>
              </a:rPr>
              <a:t>:</a:t>
            </a:r>
            <a:endParaRPr lang="es-E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ES" sz="4000">
              <a:solidFill>
                <a:schemeClr val="bg1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ES" sz="4000">
                <a:solidFill>
                  <a:schemeClr val="bg1"/>
                </a:solidFill>
              </a:rPr>
              <a:t>CANVA 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s-ES" sz="4000" b="1">
                <a:solidFill>
                  <a:schemeClr val="bg1"/>
                </a:solidFill>
                <a:latin typeface="Arial"/>
                <a:cs typeface="Arial"/>
              </a:rPr>
              <a:t>Software de diagramas: </a:t>
            </a:r>
            <a:endParaRPr lang="es-ES" sz="40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r>
              <a:rPr lang="es-ES" sz="4000" b="1">
                <a:solidFill>
                  <a:schemeClr val="bg1"/>
                </a:solidFill>
                <a:latin typeface="Arial"/>
                <a:cs typeface="Arial"/>
              </a:rPr>
              <a:t>app.diagrams.net</a:t>
            </a:r>
            <a:endParaRPr lang="es-ES" sz="4000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>
              <a:buNone/>
            </a:pPr>
            <a:endParaRPr lang="es-ES" sz="1100">
              <a:latin typeface="Arial"/>
              <a:cs typeface="Arial"/>
            </a:endParaRPr>
          </a:p>
          <a:p>
            <a:pPr>
              <a:buFont typeface="Calibri" panose="020B0604020202020204" pitchFamily="34" charset="0"/>
              <a:buChar char="-"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4311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26A78-8FF8-5245-9DD7-0A1F0A33D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F74A-764B-7306-2CC6-C3A42ED3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PLANIFICACIÓN</a:t>
            </a:r>
          </a:p>
        </p:txBody>
      </p:sp>
      <p:pic>
        <p:nvPicPr>
          <p:cNvPr id="4" name="Content Placeholder 3" descr="Imagen">
            <a:extLst>
              <a:ext uri="{FF2B5EF4-FFF2-40B4-BE49-F238E27FC236}">
                <a16:creationId xmlns:a16="http://schemas.microsoft.com/office/drawing/2014/main" id="{0490FFC9-9221-1AFA-EB48-74EE77ED2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4097" y="2003950"/>
            <a:ext cx="8256722" cy="4059264"/>
          </a:xfrm>
        </p:spPr>
      </p:pic>
    </p:spTree>
    <p:extLst>
      <p:ext uri="{BB962C8B-B14F-4D97-AF65-F5344CB8AC3E}">
        <p14:creationId xmlns:p14="http://schemas.microsoft.com/office/powerpoint/2010/main" val="3408304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6D4F5-9389-FFFE-AFC8-A8772FA6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D3E9C-6CDA-BB79-1413-843E7F38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PLANIFICACIÓN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88C3D-857D-DDCF-B04B-4885D0116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s-ES">
                <a:solidFill>
                  <a:schemeClr val="bg1"/>
                </a:solidFill>
              </a:rPr>
              <a:t>ANÁLISIS DAFO</a:t>
            </a:r>
          </a:p>
          <a:p>
            <a:endParaRPr lang="es-E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>
                <a:solidFill>
                  <a:schemeClr val="bg1"/>
                </a:solidFill>
              </a:rPr>
              <a:t>DEBILIDADES                                                                         FORTALEZAS</a:t>
            </a:r>
          </a:p>
          <a:p>
            <a:endParaRPr lang="es-ES">
              <a:solidFill>
                <a:schemeClr val="bg1"/>
              </a:solidFill>
            </a:endParaRPr>
          </a:p>
          <a:p>
            <a:endParaRPr lang="es-ES">
              <a:solidFill>
                <a:schemeClr val="bg1"/>
              </a:solidFill>
            </a:endParaRPr>
          </a:p>
          <a:p>
            <a:endParaRPr lang="es-E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>
                <a:solidFill>
                  <a:schemeClr val="bg1"/>
                </a:solidFill>
              </a:rPr>
              <a:t>AMENAZAS                                                                             OPORTUNIDADES</a:t>
            </a:r>
          </a:p>
        </p:txBody>
      </p:sp>
    </p:spTree>
    <p:extLst>
      <p:ext uri="{BB962C8B-B14F-4D97-AF65-F5344CB8AC3E}">
        <p14:creationId xmlns:p14="http://schemas.microsoft.com/office/powerpoint/2010/main" val="2877181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8E54E-C8C8-1C8F-9CBF-A7F76288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26E6-8699-2F34-523A-9941E99BF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ANÁLISIS DEL PROYECTO</a:t>
            </a:r>
          </a:p>
        </p:txBody>
      </p:sp>
      <p:pic>
        <p:nvPicPr>
          <p:cNvPr id="4" name="Content Placeholder 3" descr="Imagen">
            <a:extLst>
              <a:ext uri="{FF2B5EF4-FFF2-40B4-BE49-F238E27FC236}">
                <a16:creationId xmlns:a16="http://schemas.microsoft.com/office/drawing/2014/main" id="{CF2CA39F-6291-5A43-9DFA-E0B7E117A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729" y="1950193"/>
            <a:ext cx="9208831" cy="4483202"/>
          </a:xfrm>
        </p:spPr>
      </p:pic>
    </p:spTree>
    <p:extLst>
      <p:ext uri="{BB962C8B-B14F-4D97-AF65-F5344CB8AC3E}">
        <p14:creationId xmlns:p14="http://schemas.microsoft.com/office/powerpoint/2010/main" val="1016133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818DD-0689-3040-9A50-CC50DEEA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2909-1953-4CE0-FCC8-C9C7A41C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DEL PROYECTO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4C132-9179-02D9-35B1-65FC8944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s-ES" dirty="0"/>
          </a:p>
          <a:p>
            <a:endParaRPr lang="es-ES" dirty="0"/>
          </a:p>
          <a:p>
            <a:endParaRPr lang="es-ES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</a:rPr>
              <a:t>Caso de uso: usuario:</a:t>
            </a: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Imagen 4" descr="Imagen">
            <a:extLst>
              <a:ext uri="{FF2B5EF4-FFF2-40B4-BE49-F238E27FC236}">
                <a16:creationId xmlns:a16="http://schemas.microsoft.com/office/drawing/2014/main" id="{CBCEBF22-1202-60EC-FD6C-DB8C1672E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243" y="1520714"/>
            <a:ext cx="3922847" cy="506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38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4ADBC-3379-9826-1828-FBCA2763D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CB63A-CE29-B981-5344-6A1B95FA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DEL PROYECTO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228F4-0062-8B62-F56B-5B4BFFBD9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s-ES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s-ES" sz="4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</a:rPr>
              <a:t>Caso de uso: Administrador  </a:t>
            </a: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sz="4000" dirty="0">
                <a:solidFill>
                  <a:schemeClr val="bg1"/>
                </a:solidFill>
              </a:rPr>
              <a:t>del sistema:</a:t>
            </a: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4" name="Imagen 3" descr="Imagen">
            <a:extLst>
              <a:ext uri="{FF2B5EF4-FFF2-40B4-BE49-F238E27FC236}">
                <a16:creationId xmlns:a16="http://schemas.microsoft.com/office/drawing/2014/main" id="{540FF749-2A02-75DB-187B-6980ABC17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2868" y="1990711"/>
            <a:ext cx="3031694" cy="326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8385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774A-6449-E65B-BBBF-4729FC6B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572D-4AD1-D3C0-1A04-01FBFB6B1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DISEÑO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7BA51-856D-F6B4-E230-CDE0BC50C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PRE-IMPLEMENTACIÓN</a:t>
            </a:r>
            <a:endParaRPr lang="es-ES"/>
          </a:p>
          <a:p>
            <a:pPr marL="0" indent="0" algn="ctr">
              <a:buNone/>
            </a:pPr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4" name="Imagen 3" descr="Imagen">
            <a:extLst>
              <a:ext uri="{FF2B5EF4-FFF2-40B4-BE49-F238E27FC236}">
                <a16:creationId xmlns:a16="http://schemas.microsoft.com/office/drawing/2014/main" id="{34FCAD83-E562-665F-1E5C-991DF8658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104" y="1860880"/>
            <a:ext cx="3081086" cy="458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16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C7570-F31C-E0CD-61CC-343FCEBDE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F2E15-B29E-6F08-B7F6-AFBC9209C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DISEÑO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A100D-ED69-9A48-D200-8B24CE08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s-ES">
                <a:solidFill>
                  <a:schemeClr val="bg1"/>
                </a:solidFill>
              </a:rPr>
              <a:t>BASE DE DATOS</a:t>
            </a: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-SCHEMA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-SEED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2.  MODELO-VISTA-CONTROLADOR + INDEX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3. FRONT END – VISTA (HTML, BOOTSTRAP, CSS, JAVASCRIPT)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- Formulario</a:t>
            </a:r>
          </a:p>
        </p:txBody>
      </p:sp>
    </p:spTree>
    <p:extLst>
      <p:ext uri="{BB962C8B-B14F-4D97-AF65-F5344CB8AC3E}">
        <p14:creationId xmlns:p14="http://schemas.microsoft.com/office/powerpoint/2010/main" val="126171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3FC5B-8FFC-3C6D-66B9-0447B49E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EE1D-D68F-BE5D-F002-740FDDC4D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PRUEBAS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EC47D-6532-8119-25FD-CFF9FC5BF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431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1.PLAN DE DESPLIEGUE</a:t>
            </a:r>
          </a:p>
          <a:p>
            <a:pPr marL="514350" indent="-514350">
              <a:buFont typeface="Calibri" panose="020B0604020202020204" pitchFamily="34" charset="0"/>
              <a:buChar char="-"/>
            </a:pPr>
            <a:endParaRPr lang="es-ES" dirty="0">
              <a:solidFill>
                <a:schemeClr val="bg1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-ES" dirty="0">
                <a:solidFill>
                  <a:schemeClr val="bg1"/>
                </a:solidFill>
              </a:rPr>
              <a:t>DESPLIEGUE DE LA APLICACIÓN.</a:t>
            </a:r>
          </a:p>
          <a:p>
            <a:pPr marL="514350" indent="-514350">
              <a:buFont typeface="Calibri" panose="020B0604020202020204" pitchFamily="34" charset="0"/>
              <a:buChar char="-"/>
            </a:pPr>
            <a:endParaRPr lang="es-ES" dirty="0">
              <a:solidFill>
                <a:schemeClr val="bg1"/>
              </a:solidFill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" dirty="0">
                <a:solidFill>
                  <a:schemeClr val="bg1"/>
                </a:solidFill>
                <a:ea typeface="+mn-lt"/>
                <a:cs typeface="+mn-lt"/>
              </a:rPr>
              <a:t>VERIFICACIÓN POST-DESPLIEGUE.</a:t>
            </a:r>
          </a:p>
          <a:p>
            <a:pPr marL="514350" indent="-514350">
              <a:buFont typeface="Calibri" panose="020B0604020202020204" pitchFamily="34" charset="0"/>
              <a:buChar char="-"/>
            </a:pPr>
            <a:endParaRPr lang="es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" dirty="0">
                <a:solidFill>
                  <a:schemeClr val="bg1"/>
                </a:solidFill>
                <a:ea typeface="+mn-lt"/>
                <a:cs typeface="+mn-lt"/>
              </a:rPr>
              <a:t>MONITORIZACIÓN Y REGISTRO.</a:t>
            </a:r>
          </a:p>
          <a:p>
            <a:pPr marL="514350" indent="-514350">
              <a:buFont typeface="Calibri" panose="020B0604020202020204" pitchFamily="34" charset="0"/>
              <a:buChar char="-"/>
            </a:pPr>
            <a:endParaRPr lang="es" dirty="0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s" dirty="0">
                <a:solidFill>
                  <a:schemeClr val="bg1"/>
                </a:solidFill>
                <a:ea typeface="+mn-lt"/>
                <a:cs typeface="+mn-lt"/>
              </a:rPr>
              <a:t>PLAN DE RESPUESTA A ERRORES O A INCIDENTES.</a:t>
            </a:r>
          </a:p>
          <a:p>
            <a:pPr marL="514350" indent="-514350">
              <a:buFont typeface="Calibri" panose="020B0604020202020204" pitchFamily="34" charset="0"/>
              <a:buChar char="-"/>
            </a:pPr>
            <a:endParaRPr lang="es" dirty="0">
              <a:solidFill>
                <a:schemeClr val="bg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64157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D88DF-2CD4-F922-14A4-3C0FBA15A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s-ES" dirty="0"/>
            </a:br>
            <a:r>
              <a:rPr lang="es-ES" dirty="0"/>
              <a:t>PRUEBAS</a:t>
            </a:r>
          </a:p>
          <a:p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88BBD-A1AA-7FEB-6BE9-38786F38E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2.PLAN DE PRUEBAS</a:t>
            </a: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 typeface="Calibri,Sans-Serif" panose="020B0604020202020204" pitchFamily="34" charset="0"/>
              <a:buChar char="-"/>
            </a:pPr>
            <a:endParaRPr lang="es-ES" dirty="0"/>
          </a:p>
          <a:p>
            <a:pPr>
              <a:buFont typeface="Calibri,Sans-Serif" panose="020B0604020202020204" pitchFamily="34" charset="0"/>
              <a:buChar char="-"/>
            </a:pPr>
            <a:r>
              <a:rPr lang="es-ES" dirty="0">
                <a:solidFill>
                  <a:schemeClr val="bg1"/>
                </a:solidFill>
              </a:rPr>
              <a:t>PRUEBAS DE INTERFAZ USUARIO (IU).</a:t>
            </a: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 typeface="Calibri,Sans-Serif" panose="020B0604020202020204" pitchFamily="34" charset="0"/>
              <a:buChar char="-"/>
            </a:pPr>
            <a:endParaRPr lang="es-ES" dirty="0"/>
          </a:p>
          <a:p>
            <a:pPr>
              <a:buFont typeface="Calibri,Sans-Serif" panose="020B0604020202020204" pitchFamily="34" charset="0"/>
              <a:buChar char="-"/>
            </a:pPr>
            <a:r>
              <a:rPr lang="es" dirty="0">
                <a:solidFill>
                  <a:schemeClr val="bg1"/>
                </a:solidFill>
              </a:rPr>
              <a:t>PRUEBAS FUNCIONALES.</a:t>
            </a:r>
          </a:p>
          <a:p>
            <a:pPr marL="514350" indent="-514350">
              <a:buFont typeface="Calibri,Sans-Serif" panose="020B0604020202020204" pitchFamily="34" charset="0"/>
              <a:buChar char="-"/>
            </a:pPr>
            <a:endParaRPr lang="es" dirty="0"/>
          </a:p>
          <a:p>
            <a:pPr>
              <a:buFont typeface="Calibri,Sans-Serif" panose="020B0604020202020204" pitchFamily="34" charset="0"/>
              <a:buChar char="-"/>
            </a:pPr>
            <a:r>
              <a:rPr lang="es" dirty="0">
                <a:solidFill>
                  <a:schemeClr val="bg1"/>
                </a:solidFill>
              </a:rPr>
              <a:t>PRUEBAS DE SEGURIDAD</a:t>
            </a:r>
          </a:p>
          <a:p>
            <a:pPr marL="514350" indent="-514350">
              <a:buFont typeface="Calibri,Sans-Serif" panose="020B0604020202020204" pitchFamily="34" charset="0"/>
              <a:buChar char="-"/>
            </a:pPr>
            <a:endParaRPr lang="es" dirty="0"/>
          </a:p>
          <a:p>
            <a:pPr>
              <a:buFont typeface="Calibri,Sans-Serif" panose="020B0604020202020204" pitchFamily="34" charset="0"/>
              <a:buChar char="-"/>
            </a:pPr>
            <a:r>
              <a:rPr lang="es" dirty="0">
                <a:solidFill>
                  <a:schemeClr val="bg1"/>
                </a:solidFill>
              </a:rPr>
              <a:t>PRUEBAS DE RENDIMIENTO</a:t>
            </a:r>
            <a:endParaRPr lang="es-E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352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593A-B23D-CBF2-DAC1-FC4410E5F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58" y="2557546"/>
            <a:ext cx="10515600" cy="1325563"/>
          </a:xfrm>
        </p:spPr>
        <p:txBody>
          <a:bodyPr>
            <a:noAutofit/>
          </a:bodyPr>
          <a:lstStyle/>
          <a:p>
            <a:r>
              <a:rPr lang="es-ES" sz="9500" dirty="0">
                <a:solidFill>
                  <a:schemeClr val="bg1"/>
                </a:solidFill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2055849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73666-CF7E-3C7D-A936-707EDE37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DCBB-E1F7-F341-7C2D-CCEECE083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58" y="2557546"/>
            <a:ext cx="10515600" cy="1325563"/>
          </a:xfrm>
        </p:spPr>
        <p:txBody>
          <a:bodyPr>
            <a:noAutofit/>
          </a:bodyPr>
          <a:lstStyle/>
          <a:p>
            <a:r>
              <a:rPr lang="es-ES" sz="9500" dirty="0">
                <a:solidFill>
                  <a:schemeClr val="bg1"/>
                </a:solidFill>
              </a:rPr>
              <a:t>VÍAS FUTURAS</a:t>
            </a:r>
          </a:p>
        </p:txBody>
      </p:sp>
    </p:spTree>
    <p:extLst>
      <p:ext uri="{BB962C8B-B14F-4D97-AF65-F5344CB8AC3E}">
        <p14:creationId xmlns:p14="http://schemas.microsoft.com/office/powerpoint/2010/main" val="2458185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A2D6-90EA-321B-5803-5512A72E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321F-5F89-A0A0-215A-B702F7CBF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58" y="2557546"/>
            <a:ext cx="10515600" cy="1325563"/>
          </a:xfrm>
        </p:spPr>
        <p:txBody>
          <a:bodyPr>
            <a:noAutofit/>
          </a:bodyPr>
          <a:lstStyle/>
          <a:p>
            <a:r>
              <a:rPr lang="es-ES" sz="9500" dirty="0">
                <a:solidFill>
                  <a:schemeClr val="bg1"/>
                </a:solidFill>
              </a:rPr>
              <a:t>¡GRACIAS POR SU ATENCIÓN!</a:t>
            </a:r>
          </a:p>
        </p:txBody>
      </p:sp>
    </p:spTree>
    <p:extLst>
      <p:ext uri="{BB962C8B-B14F-4D97-AF65-F5344CB8AC3E}">
        <p14:creationId xmlns:p14="http://schemas.microsoft.com/office/powerpoint/2010/main" val="23869686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Tema de Office</vt:lpstr>
      <vt:lpstr>CHECKED </vt:lpstr>
      <vt:lpstr>INTRODUCCIÓN</vt:lpstr>
      <vt:lpstr>PowerPoint Presentation</vt:lpstr>
      <vt:lpstr>PowerPoint Presentation</vt:lpstr>
      <vt:lpstr>OBJETIVOS GENERALES</vt:lpstr>
      <vt:lpstr>OBJETIVOS ESPECÍFICOS</vt:lpstr>
      <vt:lpstr>ESTADO DEL ARTE</vt:lpstr>
      <vt:lpstr>ESTADO DEL ARTE</vt:lpstr>
      <vt:lpstr>ESTADO DEL ARTE</vt:lpstr>
      <vt:lpstr>METODOLOGÍA </vt:lpstr>
      <vt:lpstr>Tecnologías y herramientas</vt:lpstr>
      <vt:lpstr>Tecnologías y herramientas</vt:lpstr>
      <vt:lpstr>Tecnologías y herramientas</vt:lpstr>
      <vt:lpstr>PLANIFICACIÓN</vt:lpstr>
      <vt:lpstr>PLANIFICACIÓN</vt:lpstr>
      <vt:lpstr>ANÁLISIS DEL PROYECTO</vt:lpstr>
      <vt:lpstr>ANÁLISIS DEL PROYECTO</vt:lpstr>
      <vt:lpstr>ANÁLISIS DEL PROYECTO</vt:lpstr>
      <vt:lpstr>DISEÑO</vt:lpstr>
      <vt:lpstr>DISEÑO</vt:lpstr>
      <vt:lpstr>PRUEBAS</vt:lpstr>
      <vt:lpstr> PRUEBAS </vt:lpstr>
      <vt:lpstr>CONCLUSIONES</vt:lpstr>
      <vt:lpstr>VÍAS FUTURAS</vt:lpstr>
      <vt:lpstr>¡GRACIAS POR SU ATENCIÓN!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136</cp:revision>
  <dcterms:created xsi:type="dcterms:W3CDTF">2025-06-15T21:00:29Z</dcterms:created>
  <dcterms:modified xsi:type="dcterms:W3CDTF">2025-06-16T06:05:30Z</dcterms:modified>
</cp:coreProperties>
</file>